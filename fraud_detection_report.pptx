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Importance</c:v>
                </c:pt>
              </c:strCache>
            </c:strRef>
          </c:tx>
          <c:spPr>
            <a:solidFill>
              <a:srgbClr val="4C8DFF"/>
            </a:solidFill>
            <a:effectLst/>
          </c:spPr>
          <c:invertIfNegative val="0"/>
          <c:dLbls>
            <c:numFmt formatCode="0.0%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6233D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online_order</c:v>
                  </c:pt>
                  <c:pt idx="1">
                    <c:v>used_pin</c:v>
                  </c:pt>
                  <c:pt idx="2">
                    <c:v>hour_of_day</c:v>
                  </c:pt>
                  <c:pt idx="3">
                    <c:v>used_chip</c:v>
                  </c:pt>
                  <c:pt idx="4">
                    <c:v>repeat_retailer</c:v>
                  </c:pt>
                  <c:pt idx="5">
                    <c:v>ratio_to_median_purchase</c:v>
                  </c:pt>
                  <c:pt idx="6">
                    <c:v>amount</c:v>
                  </c:pt>
                  <c:pt idx="7">
                    <c:v>distance_from_home</c:v>
                  </c:pt>
                  <c:pt idx="8">
                    <c:v>distance_from_last_transaction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0.004</c:v>
                </c:pt>
                <c:pt idx="1">
                  <c:v>0.006</c:v>
                </c:pt>
                <c:pt idx="2">
                  <c:v>0.0075</c:v>
                </c:pt>
                <c:pt idx="3">
                  <c:v>0.0128</c:v>
                </c:pt>
                <c:pt idx="4">
                  <c:v>0.0396</c:v>
                </c:pt>
                <c:pt idx="5">
                  <c:v>0.126</c:v>
                </c:pt>
                <c:pt idx="6">
                  <c:v>0.1841</c:v>
                </c:pt>
                <c:pt idx="7">
                  <c:v>0.2811</c:v>
                </c:pt>
                <c:pt idx="8">
                  <c:v>0.3389</c:v>
                </c:pt>
              </c:numCache>
            </c:numRef>
          </c:val>
        </c:ser>
        <c:dLbls>
          <c:numFmt formatCode="0.0%" sourceLinked="0"/>
          <c:txPr>
            <a:bodyPr/>
            <a:lstStyle/>
            <a:p>
              <a:pPr>
                <a:defRPr b="0" i="0" strike="noStrike" sz="1000" u="none">
                  <a:solidFill>
                    <a:srgbClr val="16233D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44526B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image" Target="../media/image-5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/>
        </p:spPr>
      </p:sp>
      <p:sp>
        <p:nvSpPr>
          <p:cNvPr id="3" name="Shape 1"/>
          <p:cNvSpPr/>
          <p:nvPr/>
        </p:nvSpPr>
        <p:spPr>
          <a:xfrm>
            <a:off x="7863840" y="-2011680"/>
            <a:ext cx="7315200" cy="7315200"/>
          </a:xfrm>
          <a:prstGeom prst="ellipse">
            <a:avLst/>
          </a:prstGeom>
          <a:ln w="19050">
            <a:solidFill>
              <a:srgbClr val="16233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778240" y="-1097280"/>
            <a:ext cx="5486400" cy="5486400"/>
          </a:xfrm>
          <a:prstGeom prst="ellipse">
            <a:avLst/>
          </a:prstGeom>
          <a:ln w="19050">
            <a:solidFill>
              <a:srgbClr val="16233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594360"/>
            <a:ext cx="566928" cy="566928"/>
          </a:xfrm>
          <a:prstGeom prst="ellipse">
            <a:avLst/>
          </a:prstGeom>
          <a:solidFill>
            <a:srgbClr val="12203C"/>
          </a:solidFill>
          <a:ln w="12700">
            <a:solidFill>
              <a:srgbClr val="2A4A8C"/>
            </a:solidFill>
            <a:prstDash val="solid"/>
          </a:ln>
        </p:spPr>
      </p:sp>
      <p:pic>
        <p:nvPicPr>
          <p:cNvPr id="6" name="Image 0" descr="icons/shie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741761"/>
            <a:ext cx="272125" cy="27212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25880" y="566928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SENTRY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640080" y="2286000"/>
            <a:ext cx="9601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AI-Powered Financial</a:t>
            </a:r>
            <a:endParaRPr lang="en-US" sz="4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Fraud Detection System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658368" y="416052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8FA0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machine-learning pipeline that scores financial transactions in real time — from synthetic data generation to a trained model, a live API, and an interactive monitoring dashboard.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658368" y="5257800"/>
            <a:ext cx="1645920" cy="384048"/>
          </a:xfrm>
          <a:prstGeom prst="roundRect">
            <a:avLst>
              <a:gd name="adj" fmla="val 50000"/>
            </a:avLst>
          </a:prstGeom>
          <a:solidFill>
            <a:srgbClr val="111C30"/>
          </a:solidFill>
          <a:ln w="12700">
            <a:solidFill>
              <a:srgbClr val="1F2E4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58368" y="525780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2468880" y="5257800"/>
            <a:ext cx="1472184" cy="384048"/>
          </a:xfrm>
          <a:prstGeom prst="roundRect">
            <a:avLst>
              <a:gd name="adj" fmla="val 50000"/>
            </a:avLst>
          </a:prstGeom>
          <a:solidFill>
            <a:srgbClr val="111C30"/>
          </a:solidFill>
          <a:ln w="12700">
            <a:solidFill>
              <a:srgbClr val="1F2E4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468880" y="5257800"/>
            <a:ext cx="14721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REST API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4105656" y="5257800"/>
            <a:ext cx="1906524" cy="384048"/>
          </a:xfrm>
          <a:prstGeom prst="roundRect">
            <a:avLst>
              <a:gd name="adj" fmla="val 50000"/>
            </a:avLst>
          </a:prstGeom>
          <a:solidFill>
            <a:srgbClr val="111C30"/>
          </a:solidFill>
          <a:ln w="12700">
            <a:solidFill>
              <a:srgbClr val="1F2E4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105656" y="5257800"/>
            <a:ext cx="19065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Dashboard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6176772" y="5257800"/>
            <a:ext cx="777240" cy="384048"/>
          </a:xfrm>
          <a:prstGeom prst="roundRect">
            <a:avLst>
              <a:gd name="adj" fmla="val 50000"/>
            </a:avLst>
          </a:prstGeom>
          <a:solidFill>
            <a:srgbClr val="111C30"/>
          </a:solidFill>
          <a:ln w="12700">
            <a:solidFill>
              <a:srgbClr val="1F2E48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176772" y="5257800"/>
            <a:ext cx="777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658368" y="60807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5A68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PRESENTATION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4C8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8046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162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Fraud moves at machine speed.</a:t>
            </a:r>
            <a:endParaRPr lang="en-US" sz="3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162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Review teams can't keep up manually.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2103120"/>
            <a:ext cx="6949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4452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Card-not-present and account-takeover fraud have grown faster than rule-based fraud systems can adapt. Static rules (“flag anything over $500”) miss adaptive fraud patterns and generate too many false alarms.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3246120"/>
            <a:ext cx="3611880" cy="2606040"/>
          </a:xfrm>
          <a:prstGeom prst="roundRect">
            <a:avLst>
              <a:gd name="adj" fmla="val 2807"/>
            </a:avLst>
          </a:prstGeom>
          <a:solidFill>
            <a:srgbClr val="F7F9FC"/>
          </a:solidFill>
          <a:ln w="12700">
            <a:solidFill>
              <a:srgbClr val="E3E9F2"/>
            </a:solidFill>
            <a:prstDash val="solid"/>
          </a:ln>
          <a:effectLst>
            <a:outerShdw sx="100000" sy="100000" kx="0" ky="0" algn="bl" rotWithShape="0" blurRad="127000" dist="38100" dir="5400000">
              <a:srgbClr val="9CB2D6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3520440"/>
            <a:ext cx="502920" cy="502920"/>
          </a:xfrm>
          <a:prstGeom prst="ellipse">
            <a:avLst/>
          </a:prstGeom>
          <a:solidFill>
            <a:srgbClr val="EEF2FA"/>
          </a:solidFill>
          <a:ln w="12700">
            <a:solidFill>
              <a:srgbClr val="DCE4F2"/>
            </a:solidFill>
            <a:prstDash val="solid"/>
          </a:ln>
        </p:spPr>
      </p:sp>
      <p:pic>
        <p:nvPicPr>
          <p:cNvPr id="7" name="Image 0" descr="icons/dollarsig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5159" y="3651199"/>
            <a:ext cx="241402" cy="24140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160520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5D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$10B+</a:t>
            </a:r>
            <a:endParaRPr lang="en-US" sz="3000" dirty="0"/>
          </a:p>
        </p:txBody>
      </p:sp>
      <p:sp>
        <p:nvSpPr>
          <p:cNvPr id="9" name="Text 6"/>
          <p:cNvSpPr/>
          <p:nvPr/>
        </p:nvSpPr>
        <p:spPr>
          <a:xfrm>
            <a:off x="914400" y="4800600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A68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projected annual card-fraud losses worldwide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526280" y="3246120"/>
            <a:ext cx="3611880" cy="2606040"/>
          </a:xfrm>
          <a:prstGeom prst="roundRect">
            <a:avLst>
              <a:gd name="adj" fmla="val 2807"/>
            </a:avLst>
          </a:prstGeom>
          <a:solidFill>
            <a:srgbClr val="F7F9FC"/>
          </a:solidFill>
          <a:ln w="12700">
            <a:solidFill>
              <a:srgbClr val="E3E9F2"/>
            </a:solidFill>
            <a:prstDash val="solid"/>
          </a:ln>
          <a:effectLst>
            <a:outerShdw sx="100000" sy="100000" kx="0" ky="0" algn="bl" rotWithShape="0" blurRad="127000" dist="38100" dir="5400000">
              <a:srgbClr val="9CB2D6">
                <a:alpha val="2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800600" y="3520440"/>
            <a:ext cx="502920" cy="502920"/>
          </a:xfrm>
          <a:prstGeom prst="ellipse">
            <a:avLst/>
          </a:prstGeom>
          <a:solidFill>
            <a:srgbClr val="EEF2FA"/>
          </a:solidFill>
          <a:ln w="12700">
            <a:solidFill>
              <a:srgbClr val="DCE4F2"/>
            </a:solidFill>
            <a:prstDash val="solid"/>
          </a:ln>
        </p:spPr>
      </p:sp>
      <p:pic>
        <p:nvPicPr>
          <p:cNvPr id="12" name="Image 1" descr="icons/clo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1359" y="3651199"/>
            <a:ext cx="241402" cy="24140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800600" y="4160520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Seconds</a:t>
            </a:r>
            <a:endParaRPr lang="en-US" sz="3000" dirty="0"/>
          </a:p>
        </p:txBody>
      </p:sp>
      <p:sp>
        <p:nvSpPr>
          <p:cNvPr id="14" name="Text 10"/>
          <p:cNvSpPr/>
          <p:nvPr/>
        </p:nvSpPr>
        <p:spPr>
          <a:xfrm>
            <a:off x="4800600" y="4800600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A68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window to catch fraud before a transaction clears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8412480" y="3246120"/>
            <a:ext cx="3611880" cy="2606040"/>
          </a:xfrm>
          <a:prstGeom prst="roundRect">
            <a:avLst>
              <a:gd name="adj" fmla="val 2807"/>
            </a:avLst>
          </a:prstGeom>
          <a:solidFill>
            <a:srgbClr val="F7F9FC"/>
          </a:solidFill>
          <a:ln w="12700">
            <a:solidFill>
              <a:srgbClr val="E3E9F2"/>
            </a:solidFill>
            <a:prstDash val="solid"/>
          </a:ln>
          <a:effectLst>
            <a:outerShdw sx="100000" sy="100000" kx="0" ky="0" algn="bl" rotWithShape="0" blurRad="127000" dist="38100" dir="5400000">
              <a:srgbClr val="9CB2D6">
                <a:alpha val="25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86800" y="3520440"/>
            <a:ext cx="502920" cy="502920"/>
          </a:xfrm>
          <a:prstGeom prst="ellipse">
            <a:avLst/>
          </a:prstGeom>
          <a:solidFill>
            <a:srgbClr val="EEF2FA"/>
          </a:solidFill>
          <a:ln w="12700">
            <a:solidFill>
              <a:srgbClr val="DCE4F2"/>
            </a:solidFill>
            <a:prstDash val="solid"/>
          </a:ln>
        </p:spPr>
      </p:sp>
      <p:pic>
        <p:nvPicPr>
          <p:cNvPr id="17" name="Image 2" descr="icons/sca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17559" y="365119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86800" y="4160520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4C8D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&lt;1%</a:t>
            </a:r>
            <a:endParaRPr lang="en-US" sz="3000" dirty="0"/>
          </a:p>
        </p:txBody>
      </p:sp>
      <p:sp>
        <p:nvSpPr>
          <p:cNvPr id="19" name="Text 14"/>
          <p:cNvSpPr/>
          <p:nvPr/>
        </p:nvSpPr>
        <p:spPr>
          <a:xfrm>
            <a:off x="8686800" y="4800600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A68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transactions are fraudulent — a needle-in-a-haystack problem</a:t>
            </a:r>
            <a:endParaRPr lang="en-US" sz="1250" dirty="0"/>
          </a:p>
        </p:txBody>
      </p:sp>
      <p:sp>
        <p:nvSpPr>
          <p:cNvPr id="20" name="Text 15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8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5A68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SENTRY — FRAUD DETECTION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4C8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OBJECTIVE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7772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a working fraud-scoring</a:t>
            </a:r>
            <a:endParaRPr lang="en-US" sz="3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pipeline, end to end.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331720"/>
            <a:ext cx="5257800" cy="1737360"/>
          </a:xfrm>
          <a:prstGeom prst="roundRect">
            <a:avLst>
              <a:gd name="adj" fmla="val 4211"/>
            </a:avLst>
          </a:prstGeom>
          <a:solidFill>
            <a:srgbClr val="111C30"/>
          </a:solidFill>
          <a:ln w="12700">
            <a:solidFill>
              <a:srgbClr val="1F2E4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2624328"/>
            <a:ext cx="502920" cy="502920"/>
          </a:xfrm>
          <a:prstGeom prst="ellipse">
            <a:avLst/>
          </a:prstGeom>
          <a:solidFill>
            <a:srgbClr val="16233D"/>
          </a:solidFill>
          <a:ln w="12700">
            <a:solidFill>
              <a:srgbClr val="1F2E48"/>
            </a:solidFill>
            <a:prstDash val="solid"/>
          </a:ln>
        </p:spPr>
      </p:sp>
      <p:pic>
        <p:nvPicPr>
          <p:cNvPr id="6" name="Image 0" descr="icons/databa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5159" y="2755087"/>
            <a:ext cx="241402" cy="24140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2587752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realistic transaction data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600200" y="3044952"/>
            <a:ext cx="4069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8FA0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transaction records with the same statistical fingerprints real fraud data has.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217920" y="2331720"/>
            <a:ext cx="5257800" cy="1737360"/>
          </a:xfrm>
          <a:prstGeom prst="roundRect">
            <a:avLst>
              <a:gd name="adj" fmla="val 4211"/>
            </a:avLst>
          </a:prstGeom>
          <a:solidFill>
            <a:srgbClr val="111C30"/>
          </a:solidFill>
          <a:ln w="12700">
            <a:solidFill>
              <a:srgbClr val="1F2E48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492240" y="2624328"/>
            <a:ext cx="502920" cy="502920"/>
          </a:xfrm>
          <a:prstGeom prst="ellipse">
            <a:avLst/>
          </a:prstGeom>
          <a:solidFill>
            <a:srgbClr val="16233D"/>
          </a:solidFill>
          <a:ln w="12700">
            <a:solidFill>
              <a:srgbClr val="1F2E48"/>
            </a:solidFill>
            <a:prstDash val="solid"/>
          </a:ln>
        </p:spPr>
      </p:sp>
      <p:pic>
        <p:nvPicPr>
          <p:cNvPr id="11" name="Image 1" descr="icons/cpu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2999" y="2755087"/>
            <a:ext cx="241402" cy="24140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178040" y="2587752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Train an accurate classifier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7178040" y="3044952"/>
            <a:ext cx="4069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8FA0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supervised learning to separate fraudulent transactions from legitimate ones.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640080" y="4343400"/>
            <a:ext cx="5257800" cy="1737360"/>
          </a:xfrm>
          <a:prstGeom prst="roundRect">
            <a:avLst>
              <a:gd name="adj" fmla="val 4211"/>
            </a:avLst>
          </a:prstGeom>
          <a:solidFill>
            <a:srgbClr val="111C30"/>
          </a:solidFill>
          <a:ln w="12700">
            <a:solidFill>
              <a:srgbClr val="1F2E48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914400" y="4636008"/>
            <a:ext cx="502920" cy="502920"/>
          </a:xfrm>
          <a:prstGeom prst="ellipse">
            <a:avLst/>
          </a:prstGeom>
          <a:solidFill>
            <a:srgbClr val="16233D"/>
          </a:solidFill>
          <a:ln w="12700">
            <a:solidFill>
              <a:srgbClr val="1F2E48"/>
            </a:solidFill>
            <a:prstDash val="solid"/>
          </a:ln>
        </p:spPr>
      </p:sp>
      <p:pic>
        <p:nvPicPr>
          <p:cNvPr id="16" name="Image 2" descr="icons/serve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5159" y="4766767"/>
            <a:ext cx="241402" cy="24140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00200" y="4599432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Serve predictions live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1600200" y="5056632"/>
            <a:ext cx="4069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8FA0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Expose the trained model over a REST API so any client can score a transaction instantly.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6217920" y="4343400"/>
            <a:ext cx="5257800" cy="1737360"/>
          </a:xfrm>
          <a:prstGeom prst="roundRect">
            <a:avLst>
              <a:gd name="adj" fmla="val 4211"/>
            </a:avLst>
          </a:prstGeom>
          <a:solidFill>
            <a:srgbClr val="111C30"/>
          </a:solidFill>
          <a:ln w="12700">
            <a:solidFill>
              <a:srgbClr val="1F2E48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6492240" y="4636008"/>
            <a:ext cx="502920" cy="502920"/>
          </a:xfrm>
          <a:prstGeom prst="ellipse">
            <a:avLst/>
          </a:prstGeom>
          <a:solidFill>
            <a:srgbClr val="16233D"/>
          </a:solidFill>
          <a:ln w="12700">
            <a:solidFill>
              <a:srgbClr val="1F2E48"/>
            </a:solidFill>
            <a:prstDash val="solid"/>
          </a:ln>
        </p:spPr>
      </p:sp>
      <p:pic>
        <p:nvPicPr>
          <p:cNvPr id="21" name="Image 3" descr="icons/dashboar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2999" y="4766767"/>
            <a:ext cx="241402" cy="24140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178040" y="4599432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Make it usable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7178040" y="5056632"/>
            <a:ext cx="4069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8FA0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reviewers a dashboard to monitor risk, not just a model file sitting on disk.</a:t>
            </a:r>
            <a:endParaRPr lang="en-US" sz="1150" dirty="0"/>
          </a:p>
        </p:txBody>
      </p:sp>
      <p:sp>
        <p:nvSpPr>
          <p:cNvPr id="24" name="Text 18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8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25" name="Text 1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5A68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SENTRY — FRAUD DETECTION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4C8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stages, one pipeline.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32308" y="2331720"/>
            <a:ext cx="2423160" cy="2834640"/>
          </a:xfrm>
          <a:prstGeom prst="roundRect">
            <a:avLst>
              <a:gd name="adj" fmla="val 3396"/>
            </a:avLst>
          </a:prstGeom>
          <a:solidFill>
            <a:srgbClr val="F7F9FC"/>
          </a:solidFill>
          <a:ln w="12700">
            <a:solidFill>
              <a:srgbClr val="E3E9F2"/>
            </a:solidFill>
            <a:prstDash val="solid"/>
          </a:ln>
          <a:effectLst>
            <a:outerShdw sx="100000" sy="100000" kx="0" ky="0" algn="bl" rotWithShape="0" blurRad="114300" dist="38100" dir="5400000">
              <a:srgbClr val="9CB2D6">
                <a:alpha val="2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523848" y="2651760"/>
            <a:ext cx="640080" cy="640080"/>
          </a:xfrm>
          <a:prstGeom prst="ellipse">
            <a:avLst/>
          </a:prstGeom>
          <a:solidFill>
            <a:srgbClr val="EEF2FA"/>
          </a:solidFill>
          <a:ln w="12700">
            <a:solidFill>
              <a:srgbClr val="DCE4F2"/>
            </a:solidFill>
            <a:prstDash val="solid"/>
          </a:ln>
        </p:spPr>
      </p:sp>
      <p:pic>
        <p:nvPicPr>
          <p:cNvPr id="6" name="Image 0" descr="icons/databa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90268" y="281818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42036" y="24414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A68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769468" y="347472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62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769468" y="384048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4C8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transactions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815188" y="4297680"/>
            <a:ext cx="2057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A68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20,000 records, 9 features, ~3% fraud rate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3055468" y="3429000"/>
            <a:ext cx="411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C8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2" name="Shape 9"/>
          <p:cNvSpPr/>
          <p:nvPr/>
        </p:nvSpPr>
        <p:spPr>
          <a:xfrm>
            <a:off x="3466948" y="2331720"/>
            <a:ext cx="2423160" cy="2834640"/>
          </a:xfrm>
          <a:prstGeom prst="roundRect">
            <a:avLst>
              <a:gd name="adj" fmla="val 3396"/>
            </a:avLst>
          </a:prstGeom>
          <a:solidFill>
            <a:srgbClr val="F7F9FC"/>
          </a:solidFill>
          <a:ln w="12700">
            <a:solidFill>
              <a:srgbClr val="E3E9F2"/>
            </a:solidFill>
            <a:prstDash val="solid"/>
          </a:ln>
          <a:effectLst>
            <a:outerShdw sx="100000" sy="100000" kx="0" ky="0" algn="bl" rotWithShape="0" blurRad="114300" dist="38100" dir="5400000">
              <a:srgbClr val="9CB2D6">
                <a:alpha val="2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358488" y="2651760"/>
            <a:ext cx="640080" cy="640080"/>
          </a:xfrm>
          <a:prstGeom prst="ellipse">
            <a:avLst/>
          </a:prstGeom>
          <a:solidFill>
            <a:srgbClr val="EEF2FA"/>
          </a:solidFill>
          <a:ln w="12700">
            <a:solidFill>
              <a:srgbClr val="DCE4F2"/>
            </a:solidFill>
            <a:prstDash val="solid"/>
          </a:ln>
        </p:spPr>
      </p:sp>
      <p:pic>
        <p:nvPicPr>
          <p:cNvPr id="14" name="Image 1" descr="icons/cpu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4908" y="2818181"/>
            <a:ext cx="307238" cy="30723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576676" y="24414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A68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3604108" y="347472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62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</a:t>
            </a:r>
            <a:endParaRPr lang="en-US" sz="1700" dirty="0"/>
          </a:p>
        </p:txBody>
      </p:sp>
      <p:sp>
        <p:nvSpPr>
          <p:cNvPr id="17" name="Text 13"/>
          <p:cNvSpPr/>
          <p:nvPr/>
        </p:nvSpPr>
        <p:spPr>
          <a:xfrm>
            <a:off x="3604108" y="384048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4C8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150" dirty="0"/>
          </a:p>
        </p:txBody>
      </p:sp>
      <p:sp>
        <p:nvSpPr>
          <p:cNvPr id="18" name="Text 14"/>
          <p:cNvSpPr/>
          <p:nvPr/>
        </p:nvSpPr>
        <p:spPr>
          <a:xfrm>
            <a:off x="3649828" y="4297680"/>
            <a:ext cx="2057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A68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 classifier, trained &amp; evaluated</a:t>
            </a:r>
            <a:endParaRPr lang="en-US" sz="1050" dirty="0"/>
          </a:p>
        </p:txBody>
      </p:sp>
      <p:sp>
        <p:nvSpPr>
          <p:cNvPr id="19" name="Text 15"/>
          <p:cNvSpPr/>
          <p:nvPr/>
        </p:nvSpPr>
        <p:spPr>
          <a:xfrm>
            <a:off x="5890108" y="3429000"/>
            <a:ext cx="411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C8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0" name="Shape 16"/>
          <p:cNvSpPr/>
          <p:nvPr/>
        </p:nvSpPr>
        <p:spPr>
          <a:xfrm>
            <a:off x="6301588" y="2331720"/>
            <a:ext cx="2423160" cy="2834640"/>
          </a:xfrm>
          <a:prstGeom prst="roundRect">
            <a:avLst>
              <a:gd name="adj" fmla="val 3396"/>
            </a:avLst>
          </a:prstGeom>
          <a:solidFill>
            <a:srgbClr val="F7F9FC"/>
          </a:solidFill>
          <a:ln w="12700">
            <a:solidFill>
              <a:srgbClr val="E3E9F2"/>
            </a:solidFill>
            <a:prstDash val="solid"/>
          </a:ln>
          <a:effectLst>
            <a:outerShdw sx="100000" sy="100000" kx="0" ky="0" algn="bl" rotWithShape="0" blurRad="114300" dist="38100" dir="5400000">
              <a:srgbClr val="9CB2D6">
                <a:alpha val="22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7193128" y="2651760"/>
            <a:ext cx="640080" cy="640080"/>
          </a:xfrm>
          <a:prstGeom prst="ellipse">
            <a:avLst/>
          </a:prstGeom>
          <a:solidFill>
            <a:srgbClr val="EEF2FA"/>
          </a:solidFill>
          <a:ln w="12700">
            <a:solidFill>
              <a:srgbClr val="DCE4F2"/>
            </a:solidFill>
            <a:prstDash val="solid"/>
          </a:ln>
        </p:spPr>
      </p:sp>
      <p:pic>
        <p:nvPicPr>
          <p:cNvPr id="22" name="Image 2" descr="icons/serve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59548" y="2818181"/>
            <a:ext cx="307238" cy="307238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6411316" y="24414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A68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4" name="Text 19"/>
          <p:cNvSpPr/>
          <p:nvPr/>
        </p:nvSpPr>
        <p:spPr>
          <a:xfrm>
            <a:off x="6438748" y="347472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62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API</a:t>
            </a:r>
            <a:endParaRPr lang="en-US" sz="1700" dirty="0"/>
          </a:p>
        </p:txBody>
      </p:sp>
      <p:sp>
        <p:nvSpPr>
          <p:cNvPr id="25" name="Text 20"/>
          <p:cNvSpPr/>
          <p:nvPr/>
        </p:nvSpPr>
        <p:spPr>
          <a:xfrm>
            <a:off x="6438748" y="384048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4C8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backend</a:t>
            </a:r>
            <a:endParaRPr lang="en-US" sz="1150" dirty="0"/>
          </a:p>
        </p:txBody>
      </p:sp>
      <p:sp>
        <p:nvSpPr>
          <p:cNvPr id="26" name="Text 21"/>
          <p:cNvSpPr/>
          <p:nvPr/>
        </p:nvSpPr>
        <p:spPr>
          <a:xfrm>
            <a:off x="6484468" y="4297680"/>
            <a:ext cx="2057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A68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/predict, /transactions, /metrics endpoints</a:t>
            </a:r>
            <a:endParaRPr lang="en-US" sz="1050" dirty="0"/>
          </a:p>
        </p:txBody>
      </p:sp>
      <p:sp>
        <p:nvSpPr>
          <p:cNvPr id="27" name="Text 22"/>
          <p:cNvSpPr/>
          <p:nvPr/>
        </p:nvSpPr>
        <p:spPr>
          <a:xfrm>
            <a:off x="8724748" y="3429000"/>
            <a:ext cx="411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C8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8" name="Shape 23"/>
          <p:cNvSpPr/>
          <p:nvPr/>
        </p:nvSpPr>
        <p:spPr>
          <a:xfrm>
            <a:off x="9136228" y="2331720"/>
            <a:ext cx="2423160" cy="2834640"/>
          </a:xfrm>
          <a:prstGeom prst="roundRect">
            <a:avLst>
              <a:gd name="adj" fmla="val 3396"/>
            </a:avLst>
          </a:prstGeom>
          <a:solidFill>
            <a:srgbClr val="F7F9FC"/>
          </a:solidFill>
          <a:ln w="12700">
            <a:solidFill>
              <a:srgbClr val="E3E9F2"/>
            </a:solidFill>
            <a:prstDash val="solid"/>
          </a:ln>
          <a:effectLst>
            <a:outerShdw sx="100000" sy="100000" kx="0" ky="0" algn="bl" rotWithShape="0" blurRad="114300" dist="38100" dir="5400000">
              <a:srgbClr val="9CB2D6">
                <a:alpha val="22000"/>
              </a:srgbClr>
            </a:outerShdw>
          </a:effectLst>
        </p:spPr>
      </p:sp>
      <p:sp>
        <p:nvSpPr>
          <p:cNvPr id="29" name="Shape 24"/>
          <p:cNvSpPr/>
          <p:nvPr/>
        </p:nvSpPr>
        <p:spPr>
          <a:xfrm>
            <a:off x="10027768" y="2651760"/>
            <a:ext cx="640080" cy="640080"/>
          </a:xfrm>
          <a:prstGeom prst="ellipse">
            <a:avLst/>
          </a:prstGeom>
          <a:solidFill>
            <a:srgbClr val="EEF2FA"/>
          </a:solidFill>
          <a:ln w="12700">
            <a:solidFill>
              <a:srgbClr val="DCE4F2"/>
            </a:solidFill>
            <a:prstDash val="solid"/>
          </a:ln>
        </p:spPr>
      </p:sp>
      <p:pic>
        <p:nvPicPr>
          <p:cNvPr id="30" name="Image 3" descr="icons/dashboar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94188" y="2818181"/>
            <a:ext cx="307238" cy="307238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9245956" y="24414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A68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32" name="Text 26"/>
          <p:cNvSpPr/>
          <p:nvPr/>
        </p:nvSpPr>
        <p:spPr>
          <a:xfrm>
            <a:off x="9273388" y="347472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62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</a:t>
            </a:r>
            <a:endParaRPr lang="en-US" sz="1700" dirty="0"/>
          </a:p>
        </p:txBody>
      </p:sp>
      <p:sp>
        <p:nvSpPr>
          <p:cNvPr id="33" name="Text 27"/>
          <p:cNvSpPr/>
          <p:nvPr/>
        </p:nvSpPr>
        <p:spPr>
          <a:xfrm>
            <a:off x="9273388" y="384048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4C8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interface</a:t>
            </a:r>
            <a:endParaRPr lang="en-US" sz="1150" dirty="0"/>
          </a:p>
        </p:txBody>
      </p:sp>
      <p:sp>
        <p:nvSpPr>
          <p:cNvPr id="34" name="Text 28"/>
          <p:cNvSpPr/>
          <p:nvPr/>
        </p:nvSpPr>
        <p:spPr>
          <a:xfrm>
            <a:off x="9319108" y="4297680"/>
            <a:ext cx="2057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A68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feed, risk gauge, model insights</a:t>
            </a:r>
            <a:endParaRPr lang="en-US" sz="1050" dirty="0"/>
          </a:p>
        </p:txBody>
      </p:sp>
      <p:sp>
        <p:nvSpPr>
          <p:cNvPr id="35" name="Text 29"/>
          <p:cNvSpPr/>
          <p:nvPr/>
        </p:nvSpPr>
        <p:spPr>
          <a:xfrm>
            <a:off x="640080" y="553212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5A68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stage is a standalone, runnable component — the data generator, the training script, the API, and the frontend can all be run and tested independently.</a:t>
            </a:r>
            <a:endParaRPr lang="en-US" sz="1250" dirty="0"/>
          </a:p>
        </p:txBody>
      </p:sp>
      <p:sp>
        <p:nvSpPr>
          <p:cNvPr id="36" name="Text 30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8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5A68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SENTRY — FRAUD DETECTION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4C8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&amp; FEATURES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model looks at.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A0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transaction is described by 9 features — the same kind of signals real card networks use to spot anomalies.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2148840"/>
            <a:ext cx="3520440" cy="1234440"/>
          </a:xfrm>
          <a:prstGeom prst="roundRect">
            <a:avLst>
              <a:gd name="adj" fmla="val 5185"/>
            </a:avLst>
          </a:prstGeom>
          <a:solidFill>
            <a:srgbClr val="111C30"/>
          </a:solidFill>
          <a:ln w="12700">
            <a:solidFill>
              <a:srgbClr val="1F2E4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41248" y="2350008"/>
            <a:ext cx="457200" cy="457200"/>
          </a:xfrm>
          <a:prstGeom prst="ellipse">
            <a:avLst/>
          </a:prstGeom>
          <a:solidFill>
            <a:srgbClr val="16233D"/>
          </a:solidFill>
          <a:ln w="12700">
            <a:solidFill>
              <a:srgbClr val="1F2E48"/>
            </a:solidFill>
            <a:prstDash val="solid"/>
          </a:ln>
        </p:spPr>
      </p:sp>
      <p:pic>
        <p:nvPicPr>
          <p:cNvPr id="7" name="Image 0" descr="icons/dollarsig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2468880"/>
            <a:ext cx="219456" cy="21945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63040" y="2276856"/>
            <a:ext cx="2514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4C8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amount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1463040" y="2862072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8FA0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value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389120" y="2148840"/>
            <a:ext cx="3520440" cy="1234440"/>
          </a:xfrm>
          <a:prstGeom prst="roundRect">
            <a:avLst>
              <a:gd name="adj" fmla="val 5185"/>
            </a:avLst>
          </a:prstGeom>
          <a:solidFill>
            <a:srgbClr val="111C30"/>
          </a:solidFill>
          <a:ln w="12700">
            <a:solidFill>
              <a:srgbClr val="1F2E48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590288" y="2350008"/>
            <a:ext cx="457200" cy="457200"/>
          </a:xfrm>
          <a:prstGeom prst="ellipse">
            <a:avLst/>
          </a:prstGeom>
          <a:solidFill>
            <a:srgbClr val="16233D"/>
          </a:solidFill>
          <a:ln w="12700">
            <a:solidFill>
              <a:srgbClr val="1F2E48"/>
            </a:solidFill>
            <a:prstDash val="solid"/>
          </a:ln>
        </p:spPr>
      </p:sp>
      <p:pic>
        <p:nvPicPr>
          <p:cNvPr id="12" name="Image 1" descr="icons/mappi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9160" y="2468880"/>
            <a:ext cx="219456" cy="21945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212080" y="2276856"/>
            <a:ext cx="2514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4C8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distance_from_home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5212080" y="2862072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8FA0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km from cardholder's home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8138160" y="2148840"/>
            <a:ext cx="3520440" cy="1234440"/>
          </a:xfrm>
          <a:prstGeom prst="roundRect">
            <a:avLst>
              <a:gd name="adj" fmla="val 5185"/>
            </a:avLst>
          </a:prstGeom>
          <a:solidFill>
            <a:srgbClr val="111C30"/>
          </a:solidFill>
          <a:ln w="12700">
            <a:solidFill>
              <a:srgbClr val="1F2E48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8339328" y="2350008"/>
            <a:ext cx="457200" cy="457200"/>
          </a:xfrm>
          <a:prstGeom prst="ellipse">
            <a:avLst/>
          </a:prstGeom>
          <a:solidFill>
            <a:srgbClr val="16233D"/>
          </a:solidFill>
          <a:ln w="12700">
            <a:solidFill>
              <a:srgbClr val="1F2E48"/>
            </a:solidFill>
            <a:prstDash val="solid"/>
          </a:ln>
        </p:spPr>
      </p:sp>
      <p:pic>
        <p:nvPicPr>
          <p:cNvPr id="17" name="Image 2" descr="icons/rou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8200" y="2468880"/>
            <a:ext cx="219456" cy="219456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961120" y="2276856"/>
            <a:ext cx="2514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4C8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distance_from_last_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4C8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transaction</a:t>
            </a:r>
            <a:endParaRPr lang="en-US" sz="1100" dirty="0"/>
          </a:p>
        </p:txBody>
      </p:sp>
      <p:sp>
        <p:nvSpPr>
          <p:cNvPr id="19" name="Text 14"/>
          <p:cNvSpPr/>
          <p:nvPr/>
        </p:nvSpPr>
        <p:spPr>
          <a:xfrm>
            <a:off x="8961120" y="2862072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8FA0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km from previous purchase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640080" y="3584448"/>
            <a:ext cx="3520440" cy="1234440"/>
          </a:xfrm>
          <a:prstGeom prst="roundRect">
            <a:avLst>
              <a:gd name="adj" fmla="val 5185"/>
            </a:avLst>
          </a:prstGeom>
          <a:solidFill>
            <a:srgbClr val="111C30"/>
          </a:solidFill>
          <a:ln w="12700">
            <a:solidFill>
              <a:srgbClr val="1F2E48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841248" y="3785616"/>
            <a:ext cx="457200" cy="457200"/>
          </a:xfrm>
          <a:prstGeom prst="ellipse">
            <a:avLst/>
          </a:prstGeom>
          <a:solidFill>
            <a:srgbClr val="16233D"/>
          </a:solidFill>
          <a:ln w="12700">
            <a:solidFill>
              <a:srgbClr val="1F2E48"/>
            </a:solidFill>
            <a:prstDash val="solid"/>
          </a:ln>
        </p:spPr>
      </p:sp>
      <p:pic>
        <p:nvPicPr>
          <p:cNvPr id="22" name="Image 3" descr="icons/gaug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120" y="3904488"/>
            <a:ext cx="219456" cy="219456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463040" y="3712464"/>
            <a:ext cx="2514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4C8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ratio_to_median_purchase</a:t>
            </a:r>
            <a:endParaRPr lang="en-US" sz="1100" dirty="0"/>
          </a:p>
        </p:txBody>
      </p:sp>
      <p:sp>
        <p:nvSpPr>
          <p:cNvPr id="24" name="Text 18"/>
          <p:cNvSpPr/>
          <p:nvPr/>
        </p:nvSpPr>
        <p:spPr>
          <a:xfrm>
            <a:off x="1463040" y="429768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8FA0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typical spend</a:t>
            </a:r>
            <a:endParaRPr lang="en-US" sz="1050" dirty="0"/>
          </a:p>
        </p:txBody>
      </p:sp>
      <p:sp>
        <p:nvSpPr>
          <p:cNvPr id="25" name="Shape 19"/>
          <p:cNvSpPr/>
          <p:nvPr/>
        </p:nvSpPr>
        <p:spPr>
          <a:xfrm>
            <a:off x="4389120" y="3584448"/>
            <a:ext cx="3520440" cy="1234440"/>
          </a:xfrm>
          <a:prstGeom prst="roundRect">
            <a:avLst>
              <a:gd name="adj" fmla="val 5185"/>
            </a:avLst>
          </a:prstGeom>
          <a:solidFill>
            <a:srgbClr val="111C30"/>
          </a:solidFill>
          <a:ln w="12700">
            <a:solidFill>
              <a:srgbClr val="1F2E48"/>
            </a:solidFill>
            <a:prstDash val="solid"/>
          </a:ln>
        </p:spPr>
      </p:sp>
      <p:sp>
        <p:nvSpPr>
          <p:cNvPr id="26" name="Shape 20"/>
          <p:cNvSpPr/>
          <p:nvPr/>
        </p:nvSpPr>
        <p:spPr>
          <a:xfrm>
            <a:off x="4590288" y="3785616"/>
            <a:ext cx="457200" cy="457200"/>
          </a:xfrm>
          <a:prstGeom prst="ellipse">
            <a:avLst/>
          </a:prstGeom>
          <a:solidFill>
            <a:srgbClr val="16233D"/>
          </a:solidFill>
          <a:ln w="12700">
            <a:solidFill>
              <a:srgbClr val="1F2E48"/>
            </a:solidFill>
            <a:prstDash val="solid"/>
          </a:ln>
        </p:spPr>
      </p:sp>
      <p:pic>
        <p:nvPicPr>
          <p:cNvPr id="27" name="Image 4" descr="icons/chec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09160" y="3904488"/>
            <a:ext cx="219456" cy="219456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5212080" y="3712464"/>
            <a:ext cx="2514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4C8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repeat_retailer</a:t>
            </a:r>
            <a:endParaRPr lang="en-US" sz="1100" dirty="0"/>
          </a:p>
        </p:txBody>
      </p:sp>
      <p:sp>
        <p:nvSpPr>
          <p:cNvPr id="29" name="Text 22"/>
          <p:cNvSpPr/>
          <p:nvPr/>
        </p:nvSpPr>
        <p:spPr>
          <a:xfrm>
            <a:off x="5212080" y="429768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8FA0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Seen this merchant before?</a:t>
            </a:r>
            <a:endParaRPr lang="en-US" sz="1050" dirty="0"/>
          </a:p>
        </p:txBody>
      </p:sp>
      <p:sp>
        <p:nvSpPr>
          <p:cNvPr id="30" name="Shape 23"/>
          <p:cNvSpPr/>
          <p:nvPr/>
        </p:nvSpPr>
        <p:spPr>
          <a:xfrm>
            <a:off x="8138160" y="3584448"/>
            <a:ext cx="3520440" cy="1234440"/>
          </a:xfrm>
          <a:prstGeom prst="roundRect">
            <a:avLst>
              <a:gd name="adj" fmla="val 5185"/>
            </a:avLst>
          </a:prstGeom>
          <a:solidFill>
            <a:srgbClr val="111C30"/>
          </a:solidFill>
          <a:ln w="12700">
            <a:solidFill>
              <a:srgbClr val="1F2E48"/>
            </a:solidFill>
            <a:prstDash val="solid"/>
          </a:ln>
        </p:spPr>
      </p:sp>
      <p:sp>
        <p:nvSpPr>
          <p:cNvPr id="31" name="Shape 24"/>
          <p:cNvSpPr/>
          <p:nvPr/>
        </p:nvSpPr>
        <p:spPr>
          <a:xfrm>
            <a:off x="8339328" y="3785616"/>
            <a:ext cx="457200" cy="457200"/>
          </a:xfrm>
          <a:prstGeom prst="ellipse">
            <a:avLst/>
          </a:prstGeom>
          <a:solidFill>
            <a:srgbClr val="16233D"/>
          </a:solidFill>
          <a:ln w="12700">
            <a:solidFill>
              <a:srgbClr val="1F2E48"/>
            </a:solidFill>
            <a:prstDash val="solid"/>
          </a:ln>
        </p:spPr>
      </p:sp>
      <p:pic>
        <p:nvPicPr>
          <p:cNvPr id="32" name="Image 5" descr="icons/creditcar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58200" y="3904488"/>
            <a:ext cx="219456" cy="219456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8961120" y="3712464"/>
            <a:ext cx="2514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4C8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used_chip</a:t>
            </a:r>
            <a:endParaRPr lang="en-US" sz="1100" dirty="0"/>
          </a:p>
        </p:txBody>
      </p:sp>
      <p:sp>
        <p:nvSpPr>
          <p:cNvPr id="34" name="Text 26"/>
          <p:cNvSpPr/>
          <p:nvPr/>
        </p:nvSpPr>
        <p:spPr>
          <a:xfrm>
            <a:off x="8961120" y="429768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8FA0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Chip verification used</a:t>
            </a:r>
            <a:endParaRPr lang="en-US" sz="1050" dirty="0"/>
          </a:p>
        </p:txBody>
      </p:sp>
      <p:sp>
        <p:nvSpPr>
          <p:cNvPr id="35" name="Shape 27"/>
          <p:cNvSpPr/>
          <p:nvPr/>
        </p:nvSpPr>
        <p:spPr>
          <a:xfrm>
            <a:off x="640080" y="5020056"/>
            <a:ext cx="3520440" cy="1234440"/>
          </a:xfrm>
          <a:prstGeom prst="roundRect">
            <a:avLst>
              <a:gd name="adj" fmla="val 5185"/>
            </a:avLst>
          </a:prstGeom>
          <a:solidFill>
            <a:srgbClr val="111C30"/>
          </a:solidFill>
          <a:ln w="12700">
            <a:solidFill>
              <a:srgbClr val="1F2E48"/>
            </a:solidFill>
            <a:prstDash val="solid"/>
          </a:ln>
        </p:spPr>
      </p:sp>
      <p:sp>
        <p:nvSpPr>
          <p:cNvPr id="36" name="Shape 28"/>
          <p:cNvSpPr/>
          <p:nvPr/>
        </p:nvSpPr>
        <p:spPr>
          <a:xfrm>
            <a:off x="841248" y="5221224"/>
            <a:ext cx="457200" cy="457200"/>
          </a:xfrm>
          <a:prstGeom prst="ellipse">
            <a:avLst/>
          </a:prstGeom>
          <a:solidFill>
            <a:srgbClr val="16233D"/>
          </a:solidFill>
          <a:ln w="12700">
            <a:solidFill>
              <a:srgbClr val="1F2E48"/>
            </a:solidFill>
            <a:prstDash val="solid"/>
          </a:ln>
        </p:spPr>
      </p:sp>
      <p:pic>
        <p:nvPicPr>
          <p:cNvPr id="37" name="Image 6" descr="icons/shiel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0120" y="5340096"/>
            <a:ext cx="219456" cy="219456"/>
          </a:xfrm>
          <a:prstGeom prst="rect">
            <a:avLst/>
          </a:prstGeom>
        </p:spPr>
      </p:pic>
      <p:sp>
        <p:nvSpPr>
          <p:cNvPr id="38" name="Text 29"/>
          <p:cNvSpPr/>
          <p:nvPr/>
        </p:nvSpPr>
        <p:spPr>
          <a:xfrm>
            <a:off x="1463040" y="5148072"/>
            <a:ext cx="2514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4C8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used_pin</a:t>
            </a:r>
            <a:endParaRPr lang="en-US" sz="1100" dirty="0"/>
          </a:p>
        </p:txBody>
      </p:sp>
      <p:sp>
        <p:nvSpPr>
          <p:cNvPr id="39" name="Text 30"/>
          <p:cNvSpPr/>
          <p:nvPr/>
        </p:nvSpPr>
        <p:spPr>
          <a:xfrm>
            <a:off x="1463040" y="5733288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8FA0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 verification used</a:t>
            </a:r>
            <a:endParaRPr lang="en-US" sz="1050" dirty="0"/>
          </a:p>
        </p:txBody>
      </p:sp>
      <p:sp>
        <p:nvSpPr>
          <p:cNvPr id="40" name="Shape 31"/>
          <p:cNvSpPr/>
          <p:nvPr/>
        </p:nvSpPr>
        <p:spPr>
          <a:xfrm>
            <a:off x="4389120" y="5020056"/>
            <a:ext cx="3520440" cy="1234440"/>
          </a:xfrm>
          <a:prstGeom prst="roundRect">
            <a:avLst>
              <a:gd name="adj" fmla="val 5185"/>
            </a:avLst>
          </a:prstGeom>
          <a:solidFill>
            <a:srgbClr val="111C30"/>
          </a:solidFill>
          <a:ln w="12700">
            <a:solidFill>
              <a:srgbClr val="1F2E48"/>
            </a:solidFill>
            <a:prstDash val="solid"/>
          </a:ln>
        </p:spPr>
      </p:sp>
      <p:sp>
        <p:nvSpPr>
          <p:cNvPr id="41" name="Shape 32"/>
          <p:cNvSpPr/>
          <p:nvPr/>
        </p:nvSpPr>
        <p:spPr>
          <a:xfrm>
            <a:off x="4590288" y="5221224"/>
            <a:ext cx="457200" cy="457200"/>
          </a:xfrm>
          <a:prstGeom prst="ellipse">
            <a:avLst/>
          </a:prstGeom>
          <a:solidFill>
            <a:srgbClr val="16233D"/>
          </a:solidFill>
          <a:ln w="12700">
            <a:solidFill>
              <a:srgbClr val="1F2E48"/>
            </a:solidFill>
            <a:prstDash val="solid"/>
          </a:ln>
        </p:spPr>
      </p:sp>
      <p:pic>
        <p:nvPicPr>
          <p:cNvPr id="42" name="Image 7" descr="icons/scan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09160" y="5340096"/>
            <a:ext cx="219456" cy="219456"/>
          </a:xfrm>
          <a:prstGeom prst="rect">
            <a:avLst/>
          </a:prstGeom>
        </p:spPr>
      </p:pic>
      <p:sp>
        <p:nvSpPr>
          <p:cNvPr id="43" name="Text 33"/>
          <p:cNvSpPr/>
          <p:nvPr/>
        </p:nvSpPr>
        <p:spPr>
          <a:xfrm>
            <a:off x="5212080" y="5148072"/>
            <a:ext cx="2514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4C8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online_order</a:t>
            </a:r>
            <a:endParaRPr lang="en-US" sz="1100" dirty="0"/>
          </a:p>
        </p:txBody>
      </p:sp>
      <p:sp>
        <p:nvSpPr>
          <p:cNvPr id="44" name="Text 34"/>
          <p:cNvSpPr/>
          <p:nvPr/>
        </p:nvSpPr>
        <p:spPr>
          <a:xfrm>
            <a:off x="5212080" y="5733288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8FA0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Card-not-present order</a:t>
            </a:r>
            <a:endParaRPr lang="en-US" sz="1050" dirty="0"/>
          </a:p>
        </p:txBody>
      </p:sp>
      <p:sp>
        <p:nvSpPr>
          <p:cNvPr id="45" name="Shape 35"/>
          <p:cNvSpPr/>
          <p:nvPr/>
        </p:nvSpPr>
        <p:spPr>
          <a:xfrm>
            <a:off x="8138160" y="5020056"/>
            <a:ext cx="3520440" cy="1234440"/>
          </a:xfrm>
          <a:prstGeom prst="roundRect">
            <a:avLst>
              <a:gd name="adj" fmla="val 5185"/>
            </a:avLst>
          </a:prstGeom>
          <a:solidFill>
            <a:srgbClr val="111C30"/>
          </a:solidFill>
          <a:ln w="12700">
            <a:solidFill>
              <a:srgbClr val="1F2E48"/>
            </a:solidFill>
            <a:prstDash val="solid"/>
          </a:ln>
        </p:spPr>
      </p:sp>
      <p:sp>
        <p:nvSpPr>
          <p:cNvPr id="46" name="Shape 36"/>
          <p:cNvSpPr/>
          <p:nvPr/>
        </p:nvSpPr>
        <p:spPr>
          <a:xfrm>
            <a:off x="8339328" y="5221224"/>
            <a:ext cx="457200" cy="457200"/>
          </a:xfrm>
          <a:prstGeom prst="ellipse">
            <a:avLst/>
          </a:prstGeom>
          <a:solidFill>
            <a:srgbClr val="16233D"/>
          </a:solidFill>
          <a:ln w="12700">
            <a:solidFill>
              <a:srgbClr val="1F2E48"/>
            </a:solidFill>
            <a:prstDash val="solid"/>
          </a:ln>
        </p:spPr>
      </p:sp>
      <p:pic>
        <p:nvPicPr>
          <p:cNvPr id="47" name="Image 8" descr="icons/clock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458200" y="5340096"/>
            <a:ext cx="219456" cy="219456"/>
          </a:xfrm>
          <a:prstGeom prst="rect">
            <a:avLst/>
          </a:prstGeom>
        </p:spPr>
      </p:pic>
      <p:sp>
        <p:nvSpPr>
          <p:cNvPr id="48" name="Text 37"/>
          <p:cNvSpPr/>
          <p:nvPr/>
        </p:nvSpPr>
        <p:spPr>
          <a:xfrm>
            <a:off x="8961120" y="5148072"/>
            <a:ext cx="2514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4C8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hour_of_day</a:t>
            </a:r>
            <a:endParaRPr lang="en-US" sz="1100" dirty="0"/>
          </a:p>
        </p:txBody>
      </p:sp>
      <p:sp>
        <p:nvSpPr>
          <p:cNvPr id="49" name="Text 38"/>
          <p:cNvSpPr/>
          <p:nvPr/>
        </p:nvSpPr>
        <p:spPr>
          <a:xfrm>
            <a:off x="8961120" y="5733288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8FA0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the purchase occurred</a:t>
            </a:r>
            <a:endParaRPr lang="en-US" sz="1050" dirty="0"/>
          </a:p>
        </p:txBody>
      </p:sp>
      <p:sp>
        <p:nvSpPr>
          <p:cNvPr id="50" name="Text 39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8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51" name="Text 40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5A68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SENTRY — FRAUD DETECTION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4C8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Random Forest Classifier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508760"/>
            <a:ext cx="6583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4452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ensemble of decision trees, chosen for accuracy, robustness to imbalanced data, and built-in explainability.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2423160"/>
            <a:ext cx="457200" cy="457200"/>
          </a:xfrm>
          <a:prstGeom prst="ellipse">
            <a:avLst/>
          </a:prstGeom>
          <a:solidFill>
            <a:srgbClr val="EEF2FA"/>
          </a:solidFill>
          <a:ln w="12700">
            <a:solidFill>
              <a:srgbClr val="DCE4F2"/>
            </a:solidFill>
            <a:prstDash val="solid"/>
          </a:ln>
        </p:spPr>
      </p:sp>
      <p:pic>
        <p:nvPicPr>
          <p:cNvPr id="6" name="Image 0" descr="icons/workflo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" y="2542032"/>
            <a:ext cx="219456" cy="21945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80160" y="2404872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Handles non-linear patterns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1280160" y="2734056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A68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isn't a straight line — trees split on combinations of features rules-based systems miss.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457200" cy="457200"/>
          </a:xfrm>
          <a:prstGeom prst="ellipse">
            <a:avLst/>
          </a:prstGeom>
          <a:solidFill>
            <a:srgbClr val="EEF2FA"/>
          </a:solidFill>
          <a:ln w="12700">
            <a:solidFill>
              <a:srgbClr val="DCE4F2"/>
            </a:solidFill>
            <a:prstDash val="solid"/>
          </a:ln>
        </p:spPr>
      </p:sp>
      <p:pic>
        <p:nvPicPr>
          <p:cNvPr id="10" name="Image 1" descr="icons/gaug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" y="3502152"/>
            <a:ext cx="219456" cy="21945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280160" y="3364992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Built-in feature importance</a:t>
            </a:r>
            <a:endParaRPr lang="en-US" sz="1350" dirty="0"/>
          </a:p>
        </p:txBody>
      </p:sp>
      <p:sp>
        <p:nvSpPr>
          <p:cNvPr id="12" name="Text 8"/>
          <p:cNvSpPr/>
          <p:nvPr/>
        </p:nvSpPr>
        <p:spPr>
          <a:xfrm>
            <a:off x="1280160" y="3694176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A68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reviewers exactly which signals are driving each decision.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640080" y="4343400"/>
            <a:ext cx="457200" cy="457200"/>
          </a:xfrm>
          <a:prstGeom prst="ellipse">
            <a:avLst/>
          </a:prstGeom>
          <a:solidFill>
            <a:srgbClr val="EEF2FA"/>
          </a:solidFill>
          <a:ln w="12700">
            <a:solidFill>
              <a:srgbClr val="DCE4F2"/>
            </a:solidFill>
            <a:prstDash val="solid"/>
          </a:ln>
        </p:spPr>
      </p:sp>
      <p:pic>
        <p:nvPicPr>
          <p:cNvPr id="14" name="Image 2" descr="icons/sca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" y="4462272"/>
            <a:ext cx="219456" cy="21945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280160" y="4325112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Robust to class imbalance</a:t>
            </a:r>
            <a:endParaRPr lang="en-US" sz="1350" dirty="0"/>
          </a:p>
        </p:txBody>
      </p:sp>
      <p:sp>
        <p:nvSpPr>
          <p:cNvPr id="16" name="Text 11"/>
          <p:cNvSpPr/>
          <p:nvPr/>
        </p:nvSpPr>
        <p:spPr>
          <a:xfrm>
            <a:off x="1280160" y="4654296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A68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class_weight=‘balanced’ keeps the rare fraud cases from being ignored.</a:t>
            </a:r>
            <a:endParaRPr lang="en-US" sz="1150" dirty="0"/>
          </a:p>
        </p:txBody>
      </p:sp>
      <p:sp>
        <p:nvSpPr>
          <p:cNvPr id="17" name="Shape 12"/>
          <p:cNvSpPr/>
          <p:nvPr/>
        </p:nvSpPr>
        <p:spPr>
          <a:xfrm>
            <a:off x="7635240" y="1554480"/>
            <a:ext cx="3886200" cy="3977640"/>
          </a:xfrm>
          <a:prstGeom prst="roundRect">
            <a:avLst>
              <a:gd name="adj" fmla="val 2118"/>
            </a:avLst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7955280" y="182880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4C8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SPECIFICATION</a:t>
            </a:r>
            <a:endParaRPr lang="en-US" sz="1100" dirty="0"/>
          </a:p>
        </p:txBody>
      </p:sp>
      <p:sp>
        <p:nvSpPr>
          <p:cNvPr id="19" name="Text 14"/>
          <p:cNvSpPr/>
          <p:nvPr/>
        </p:nvSpPr>
        <p:spPr>
          <a:xfrm>
            <a:off x="7955280" y="2386584"/>
            <a:ext cx="2148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FA0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</a:t>
            </a:r>
            <a:endParaRPr lang="en-US" sz="1150" dirty="0"/>
          </a:p>
        </p:txBody>
      </p:sp>
      <p:sp>
        <p:nvSpPr>
          <p:cNvPr id="20" name="Text 15"/>
          <p:cNvSpPr/>
          <p:nvPr/>
        </p:nvSpPr>
        <p:spPr>
          <a:xfrm>
            <a:off x="9921240" y="2386584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150" dirty="0"/>
          </a:p>
        </p:txBody>
      </p:sp>
      <p:sp>
        <p:nvSpPr>
          <p:cNvPr id="21" name="Shape 16"/>
          <p:cNvSpPr/>
          <p:nvPr/>
        </p:nvSpPr>
        <p:spPr>
          <a:xfrm>
            <a:off x="7955280" y="2734056"/>
            <a:ext cx="3246120" cy="0"/>
          </a:xfrm>
          <a:prstGeom prst="line">
            <a:avLst/>
          </a:prstGeom>
          <a:noFill/>
          <a:ln w="12700">
            <a:solidFill>
              <a:srgbClr val="1F2E48"/>
            </a:solidFill>
            <a:prstDash val="solid"/>
          </a:ln>
        </p:spPr>
      </p:sp>
      <p:sp>
        <p:nvSpPr>
          <p:cNvPr id="22" name="Text 17"/>
          <p:cNvSpPr/>
          <p:nvPr/>
        </p:nvSpPr>
        <p:spPr>
          <a:xfrm>
            <a:off x="7955280" y="2788920"/>
            <a:ext cx="2148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FA0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Library</a:t>
            </a:r>
            <a:endParaRPr lang="en-US" sz="1150" dirty="0"/>
          </a:p>
        </p:txBody>
      </p:sp>
      <p:sp>
        <p:nvSpPr>
          <p:cNvPr id="23" name="Text 18"/>
          <p:cNvSpPr/>
          <p:nvPr/>
        </p:nvSpPr>
        <p:spPr>
          <a:xfrm>
            <a:off x="9921240" y="2788920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</a:t>
            </a:r>
            <a:endParaRPr lang="en-US" sz="1150" dirty="0"/>
          </a:p>
        </p:txBody>
      </p:sp>
      <p:sp>
        <p:nvSpPr>
          <p:cNvPr id="24" name="Shape 19"/>
          <p:cNvSpPr/>
          <p:nvPr/>
        </p:nvSpPr>
        <p:spPr>
          <a:xfrm>
            <a:off x="7955280" y="3136392"/>
            <a:ext cx="3246120" cy="0"/>
          </a:xfrm>
          <a:prstGeom prst="line">
            <a:avLst/>
          </a:prstGeom>
          <a:noFill/>
          <a:ln w="12700">
            <a:solidFill>
              <a:srgbClr val="1F2E48"/>
            </a:solidFill>
            <a:prstDash val="solid"/>
          </a:ln>
        </p:spPr>
      </p:sp>
      <p:sp>
        <p:nvSpPr>
          <p:cNvPr id="25" name="Text 20"/>
          <p:cNvSpPr/>
          <p:nvPr/>
        </p:nvSpPr>
        <p:spPr>
          <a:xfrm>
            <a:off x="7955280" y="3191256"/>
            <a:ext cx="2148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FA0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Trees (n_estimators)</a:t>
            </a:r>
            <a:endParaRPr lang="en-US" sz="1150" dirty="0"/>
          </a:p>
        </p:txBody>
      </p:sp>
      <p:sp>
        <p:nvSpPr>
          <p:cNvPr id="26" name="Text 21"/>
          <p:cNvSpPr/>
          <p:nvPr/>
        </p:nvSpPr>
        <p:spPr>
          <a:xfrm>
            <a:off x="9921240" y="3191256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</a:t>
            </a:r>
            <a:endParaRPr lang="en-US" sz="1150" dirty="0"/>
          </a:p>
        </p:txBody>
      </p:sp>
      <p:sp>
        <p:nvSpPr>
          <p:cNvPr id="27" name="Shape 22"/>
          <p:cNvSpPr/>
          <p:nvPr/>
        </p:nvSpPr>
        <p:spPr>
          <a:xfrm>
            <a:off x="7955280" y="3538728"/>
            <a:ext cx="3246120" cy="0"/>
          </a:xfrm>
          <a:prstGeom prst="line">
            <a:avLst/>
          </a:prstGeom>
          <a:noFill/>
          <a:ln w="12700">
            <a:solidFill>
              <a:srgbClr val="1F2E48"/>
            </a:solidFill>
            <a:prstDash val="solid"/>
          </a:ln>
        </p:spPr>
      </p:sp>
      <p:sp>
        <p:nvSpPr>
          <p:cNvPr id="28" name="Text 23"/>
          <p:cNvSpPr/>
          <p:nvPr/>
        </p:nvSpPr>
        <p:spPr>
          <a:xfrm>
            <a:off x="7955280" y="3593592"/>
            <a:ext cx="2148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FA0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depth</a:t>
            </a:r>
            <a:endParaRPr lang="en-US" sz="1150" dirty="0"/>
          </a:p>
        </p:txBody>
      </p:sp>
      <p:sp>
        <p:nvSpPr>
          <p:cNvPr id="29" name="Text 24"/>
          <p:cNvSpPr/>
          <p:nvPr/>
        </p:nvSpPr>
        <p:spPr>
          <a:xfrm>
            <a:off x="9921240" y="3593592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50" dirty="0"/>
          </a:p>
        </p:txBody>
      </p:sp>
      <p:sp>
        <p:nvSpPr>
          <p:cNvPr id="30" name="Shape 25"/>
          <p:cNvSpPr/>
          <p:nvPr/>
        </p:nvSpPr>
        <p:spPr>
          <a:xfrm>
            <a:off x="7955280" y="3941064"/>
            <a:ext cx="3246120" cy="0"/>
          </a:xfrm>
          <a:prstGeom prst="line">
            <a:avLst/>
          </a:prstGeom>
          <a:noFill/>
          <a:ln w="12700">
            <a:solidFill>
              <a:srgbClr val="1F2E48"/>
            </a:solidFill>
            <a:prstDash val="solid"/>
          </a:ln>
        </p:spPr>
      </p:sp>
      <p:sp>
        <p:nvSpPr>
          <p:cNvPr id="31" name="Text 26"/>
          <p:cNvSpPr/>
          <p:nvPr/>
        </p:nvSpPr>
        <p:spPr>
          <a:xfrm>
            <a:off x="7955280" y="3995928"/>
            <a:ext cx="2148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FA0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 samples/leaf</a:t>
            </a:r>
            <a:endParaRPr lang="en-US" sz="1150" dirty="0"/>
          </a:p>
        </p:txBody>
      </p:sp>
      <p:sp>
        <p:nvSpPr>
          <p:cNvPr id="32" name="Text 27"/>
          <p:cNvSpPr/>
          <p:nvPr/>
        </p:nvSpPr>
        <p:spPr>
          <a:xfrm>
            <a:off x="9921240" y="3995928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50" dirty="0"/>
          </a:p>
        </p:txBody>
      </p:sp>
      <p:sp>
        <p:nvSpPr>
          <p:cNvPr id="33" name="Shape 28"/>
          <p:cNvSpPr/>
          <p:nvPr/>
        </p:nvSpPr>
        <p:spPr>
          <a:xfrm>
            <a:off x="7955280" y="4343400"/>
            <a:ext cx="3246120" cy="0"/>
          </a:xfrm>
          <a:prstGeom prst="line">
            <a:avLst/>
          </a:prstGeom>
          <a:noFill/>
          <a:ln w="12700">
            <a:solidFill>
              <a:srgbClr val="1F2E48"/>
            </a:solidFill>
            <a:prstDash val="solid"/>
          </a:ln>
        </p:spPr>
      </p:sp>
      <p:sp>
        <p:nvSpPr>
          <p:cNvPr id="34" name="Text 29"/>
          <p:cNvSpPr/>
          <p:nvPr/>
        </p:nvSpPr>
        <p:spPr>
          <a:xfrm>
            <a:off x="7955280" y="4398264"/>
            <a:ext cx="2148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FA0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weighting</a:t>
            </a:r>
            <a:endParaRPr lang="en-US" sz="1150" dirty="0"/>
          </a:p>
        </p:txBody>
      </p:sp>
      <p:sp>
        <p:nvSpPr>
          <p:cNvPr id="35" name="Text 30"/>
          <p:cNvSpPr/>
          <p:nvPr/>
        </p:nvSpPr>
        <p:spPr>
          <a:xfrm>
            <a:off x="9921240" y="4398264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Balanced</a:t>
            </a:r>
            <a:endParaRPr lang="en-US" sz="1150" dirty="0"/>
          </a:p>
        </p:txBody>
      </p:sp>
      <p:sp>
        <p:nvSpPr>
          <p:cNvPr id="36" name="Shape 31"/>
          <p:cNvSpPr/>
          <p:nvPr/>
        </p:nvSpPr>
        <p:spPr>
          <a:xfrm>
            <a:off x="7955280" y="4745736"/>
            <a:ext cx="3246120" cy="0"/>
          </a:xfrm>
          <a:prstGeom prst="line">
            <a:avLst/>
          </a:prstGeom>
          <a:noFill/>
          <a:ln w="12700">
            <a:solidFill>
              <a:srgbClr val="1F2E48"/>
            </a:solidFill>
            <a:prstDash val="solid"/>
          </a:ln>
        </p:spPr>
      </p:sp>
      <p:sp>
        <p:nvSpPr>
          <p:cNvPr id="37" name="Text 32"/>
          <p:cNvSpPr/>
          <p:nvPr/>
        </p:nvSpPr>
        <p:spPr>
          <a:xfrm>
            <a:off x="7955280" y="4800600"/>
            <a:ext cx="2148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FA0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/ test split</a:t>
            </a:r>
            <a:endParaRPr lang="en-US" sz="1150" dirty="0"/>
          </a:p>
        </p:txBody>
      </p:sp>
      <p:sp>
        <p:nvSpPr>
          <p:cNvPr id="38" name="Text 33"/>
          <p:cNvSpPr/>
          <p:nvPr/>
        </p:nvSpPr>
        <p:spPr>
          <a:xfrm>
            <a:off x="9921240" y="4800600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75% / 25%</a:t>
            </a:r>
            <a:endParaRPr lang="en-US" sz="1150" dirty="0"/>
          </a:p>
        </p:txBody>
      </p:sp>
      <p:sp>
        <p:nvSpPr>
          <p:cNvPr id="39" name="Shape 34"/>
          <p:cNvSpPr/>
          <p:nvPr/>
        </p:nvSpPr>
        <p:spPr>
          <a:xfrm>
            <a:off x="7955280" y="5148072"/>
            <a:ext cx="3246120" cy="0"/>
          </a:xfrm>
          <a:prstGeom prst="line">
            <a:avLst/>
          </a:prstGeom>
          <a:noFill/>
          <a:ln w="12700">
            <a:solidFill>
              <a:srgbClr val="1F2E48"/>
            </a:solidFill>
            <a:prstDash val="solid"/>
          </a:ln>
        </p:spPr>
      </p:sp>
      <p:sp>
        <p:nvSpPr>
          <p:cNvPr id="40" name="Text 35"/>
          <p:cNvSpPr/>
          <p:nvPr/>
        </p:nvSpPr>
        <p:spPr>
          <a:xfrm>
            <a:off x="7955280" y="5202936"/>
            <a:ext cx="2148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FA0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scaling</a:t>
            </a:r>
            <a:endParaRPr lang="en-US" sz="1150" dirty="0"/>
          </a:p>
        </p:txBody>
      </p:sp>
      <p:sp>
        <p:nvSpPr>
          <p:cNvPr id="41" name="Text 36"/>
          <p:cNvSpPr/>
          <p:nvPr/>
        </p:nvSpPr>
        <p:spPr>
          <a:xfrm>
            <a:off x="9921240" y="5202936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StandardScaler</a:t>
            </a:r>
            <a:endParaRPr lang="en-US" sz="1150" dirty="0"/>
          </a:p>
        </p:txBody>
      </p:sp>
      <p:sp>
        <p:nvSpPr>
          <p:cNvPr id="42" name="Text 37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8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  <p:sp>
        <p:nvSpPr>
          <p:cNvPr id="43" name="Text 38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5A68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SENTRY — FRAUD DETECTION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4C8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PERFORMANCE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Evaluated on 5,000 held-out transactions.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2011680" cy="1143000"/>
          </a:xfrm>
          <a:prstGeom prst="roundRect">
            <a:avLst>
              <a:gd name="adj" fmla="val 6400"/>
            </a:avLst>
          </a:prstGeom>
          <a:solidFill>
            <a:srgbClr val="111C30"/>
          </a:solidFill>
          <a:ln w="12700">
            <a:solidFill>
              <a:srgbClr val="1F2E4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82880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4C8D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99.98%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40080" y="245059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8FA0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834640" y="1691640"/>
            <a:ext cx="2011680" cy="1143000"/>
          </a:xfrm>
          <a:prstGeom prst="roundRect">
            <a:avLst>
              <a:gd name="adj" fmla="val 6400"/>
            </a:avLst>
          </a:prstGeom>
          <a:solidFill>
            <a:srgbClr val="111C30"/>
          </a:solidFill>
          <a:ln w="12700">
            <a:solidFill>
              <a:srgbClr val="1F2E4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834640" y="182880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4C8D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2834640" y="245059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8FA0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029200" y="1691640"/>
            <a:ext cx="2011680" cy="1143000"/>
          </a:xfrm>
          <a:prstGeom prst="roundRect">
            <a:avLst>
              <a:gd name="adj" fmla="val 6400"/>
            </a:avLst>
          </a:prstGeom>
          <a:solidFill>
            <a:srgbClr val="111C30"/>
          </a:solidFill>
          <a:ln w="12700">
            <a:solidFill>
              <a:srgbClr val="1F2E4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0" y="182880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4C8D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99.3%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5029200" y="245059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8FA0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223760" y="1691640"/>
            <a:ext cx="2011680" cy="1143000"/>
          </a:xfrm>
          <a:prstGeom prst="roundRect">
            <a:avLst>
              <a:gd name="adj" fmla="val 6400"/>
            </a:avLst>
          </a:prstGeom>
          <a:solidFill>
            <a:srgbClr val="111C30"/>
          </a:solidFill>
          <a:ln w="12700">
            <a:solidFill>
              <a:srgbClr val="1F2E4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223760" y="182880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4C8D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99.7%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7223760" y="245059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8FA0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SCORE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9418320" y="1691640"/>
            <a:ext cx="2011680" cy="1143000"/>
          </a:xfrm>
          <a:prstGeom prst="roundRect">
            <a:avLst>
              <a:gd name="adj" fmla="val 6400"/>
            </a:avLst>
          </a:prstGeom>
          <a:solidFill>
            <a:srgbClr val="111C30"/>
          </a:solidFill>
          <a:ln w="12700">
            <a:solidFill>
              <a:srgbClr val="1F2E4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418320" y="182880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4C8D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1.00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9418320" y="245059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8FA0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 AUC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40080" y="32004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4C8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MATRIX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331720" y="3273552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A68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Predicted:  Legit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3749040" y="3273552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A68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Predicted:  Fraud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1371600" y="3657600"/>
            <a:ext cx="8686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5A68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Actual:</a:t>
            </a:r>
            <a:endParaRPr lang="en-US" sz="950" dirty="0"/>
          </a:p>
          <a:p>
            <a:pPr algn="r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5A68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Legit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2331720" y="3657600"/>
            <a:ext cx="1417320" cy="1417320"/>
          </a:xfrm>
          <a:prstGeom prst="rect">
            <a:avLst/>
          </a:prstGeom>
          <a:solidFill>
            <a:srgbClr val="111C30"/>
          </a:solidFill>
          <a:ln w="12700">
            <a:solidFill>
              <a:srgbClr val="1F2E4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331720" y="3913632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4D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4,850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2331720" y="449884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FA0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Negative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749040" y="3657600"/>
            <a:ext cx="1417320" cy="1417320"/>
          </a:xfrm>
          <a:prstGeom prst="rect">
            <a:avLst/>
          </a:prstGeom>
          <a:solidFill>
            <a:srgbClr val="111C30"/>
          </a:solidFill>
          <a:ln w="12700">
            <a:solidFill>
              <a:srgbClr val="1F2E4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749040" y="3913632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5A688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2400" dirty="0"/>
          </a:p>
        </p:txBody>
      </p:sp>
      <p:sp>
        <p:nvSpPr>
          <p:cNvPr id="28" name="Text 26"/>
          <p:cNvSpPr/>
          <p:nvPr/>
        </p:nvSpPr>
        <p:spPr>
          <a:xfrm>
            <a:off x="3749040" y="449884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FA0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Positive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371600" y="5074920"/>
            <a:ext cx="8686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5A68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Actual:</a:t>
            </a:r>
            <a:endParaRPr lang="en-US" sz="950" dirty="0"/>
          </a:p>
          <a:p>
            <a:pPr algn="r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5A68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2331720" y="5074920"/>
            <a:ext cx="1417320" cy="1417320"/>
          </a:xfrm>
          <a:prstGeom prst="rect">
            <a:avLst/>
          </a:prstGeom>
          <a:solidFill>
            <a:srgbClr val="111C30"/>
          </a:solidFill>
          <a:ln w="12700">
            <a:solidFill>
              <a:srgbClr val="1F2E4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331720" y="5330952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5A688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400" dirty="0"/>
          </a:p>
        </p:txBody>
      </p:sp>
      <p:sp>
        <p:nvSpPr>
          <p:cNvPr id="32" name="Text 30"/>
          <p:cNvSpPr/>
          <p:nvPr/>
        </p:nvSpPr>
        <p:spPr>
          <a:xfrm>
            <a:off x="2331720" y="591616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FA0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Negative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3749040" y="5074920"/>
            <a:ext cx="1417320" cy="1417320"/>
          </a:xfrm>
          <a:prstGeom prst="rect">
            <a:avLst/>
          </a:prstGeom>
          <a:solidFill>
            <a:srgbClr val="111C30"/>
          </a:solidFill>
          <a:ln w="12700">
            <a:solidFill>
              <a:srgbClr val="1F2E4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749040" y="5330952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4D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149</a:t>
            </a:r>
            <a:endParaRPr lang="en-US" sz="2400" dirty="0"/>
          </a:p>
        </p:txBody>
      </p:sp>
      <p:sp>
        <p:nvSpPr>
          <p:cNvPr id="35" name="Text 33"/>
          <p:cNvSpPr/>
          <p:nvPr/>
        </p:nvSpPr>
        <p:spPr>
          <a:xfrm>
            <a:off x="3749040" y="591616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FA0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Positive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7498080" y="3291840"/>
            <a:ext cx="4023360" cy="2926080"/>
          </a:xfrm>
          <a:prstGeom prst="roundRect">
            <a:avLst>
              <a:gd name="adj" fmla="val 2500"/>
            </a:avLst>
          </a:prstGeom>
          <a:solidFill>
            <a:srgbClr val="111C30"/>
          </a:solidFill>
          <a:ln w="12700">
            <a:solidFill>
              <a:srgbClr val="1F2E4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772400" y="35204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4C8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THE RESULT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7772400" y="3886200"/>
            <a:ext cx="34747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E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1 fraud case slipped through out of 150 in the test set, and zero legitimate transactions were wrongly blocked.
</a:t>
            </a:r>
            <a:pPr indent="0" marL="0">
              <a:lnSpc>
                <a:spcPct val="130000"/>
              </a:lnSpc>
              <a:buNone/>
            </a:pPr>
            <a:r>
              <a:rPr lang="en-US" sz="1100" i="1" dirty="0">
                <a:solidFill>
                  <a:srgbClr val="8FA0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scores are high because the synthetic training data has cleanly separable patterns — real-world data is noisier, and recall in particular should be expected to drop.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8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5A68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SENTRY — FRAUD DETECTION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4C8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INSIGHTS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Which signals matter most?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452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importance from the trained Random Forest — location signals dominate the decision.</a:t>
            </a:r>
            <a:endParaRPr lang="en-US" sz="13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640080" y="2057400"/>
          <a:ext cx="10881360" cy="4343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8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5A68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SENTRY — FRAUD DETECTION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4C8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WEBSITE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live dashboard, not just a model file.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FA0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frontend calls the Flask API for live scoring — and automatically falls back to an in-browser model if the API isn't running, so the demo always works.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1417320" y="2148840"/>
            <a:ext cx="9326880" cy="4343400"/>
          </a:xfrm>
          <a:prstGeom prst="roundRect">
            <a:avLst>
              <a:gd name="adj" fmla="val 1263"/>
            </a:avLst>
          </a:prstGeom>
          <a:solidFill>
            <a:srgbClr val="0E1728"/>
          </a:solidFill>
          <a:ln w="19050">
            <a:solidFill>
              <a:srgbClr val="1F2E4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618488" y="2286000"/>
            <a:ext cx="109728" cy="109728"/>
          </a:xfrm>
          <a:prstGeom prst="ellipse">
            <a:avLst/>
          </a:prstGeom>
          <a:solidFill>
            <a:srgbClr val="FF5D5D"/>
          </a:solidFill>
          <a:ln/>
        </p:spPr>
      </p:sp>
      <p:sp>
        <p:nvSpPr>
          <p:cNvPr id="7" name="Shape 5"/>
          <p:cNvSpPr/>
          <p:nvPr/>
        </p:nvSpPr>
        <p:spPr>
          <a:xfrm>
            <a:off x="1837944" y="2286000"/>
            <a:ext cx="109728" cy="109728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8" name="Shape 6"/>
          <p:cNvSpPr/>
          <p:nvPr/>
        </p:nvSpPr>
        <p:spPr>
          <a:xfrm>
            <a:off x="2057400" y="2286000"/>
            <a:ext cx="109728" cy="109728"/>
          </a:xfrm>
          <a:prstGeom prst="ellipse">
            <a:avLst/>
          </a:prstGeom>
          <a:solidFill>
            <a:srgbClr val="34D399"/>
          </a:solidFill>
          <a:ln/>
        </p:spPr>
      </p:sp>
      <p:pic>
        <p:nvPicPr>
          <p:cNvPr id="9" name="Image 0" descr="screenshot_hero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527048" y="2532888"/>
            <a:ext cx="9107424" cy="384048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8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5A68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SENTRY — FRAUD DETECTION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4C8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WEBSITE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Score a transaction. See why.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769468" y="1508760"/>
            <a:ext cx="5166360" cy="3794760"/>
          </a:xfrm>
          <a:prstGeom prst="roundRect">
            <a:avLst>
              <a:gd name="adj" fmla="val 1446"/>
            </a:avLst>
          </a:prstGeom>
          <a:solidFill>
            <a:srgbClr val="0E1728"/>
          </a:solidFill>
          <a:ln w="19050">
            <a:solidFill>
              <a:srgbClr val="1F2E4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52348" y="1636776"/>
            <a:ext cx="91440" cy="91440"/>
          </a:xfrm>
          <a:prstGeom prst="ellipse">
            <a:avLst/>
          </a:prstGeom>
          <a:solidFill>
            <a:srgbClr val="FF5D5D"/>
          </a:solidFill>
          <a:ln/>
        </p:spPr>
      </p:sp>
      <p:sp>
        <p:nvSpPr>
          <p:cNvPr id="6" name="Shape 4"/>
          <p:cNvSpPr/>
          <p:nvPr/>
        </p:nvSpPr>
        <p:spPr>
          <a:xfrm>
            <a:off x="1153516" y="1636776"/>
            <a:ext cx="91440" cy="91440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7" name="Shape 5"/>
          <p:cNvSpPr/>
          <p:nvPr/>
        </p:nvSpPr>
        <p:spPr>
          <a:xfrm>
            <a:off x="1354684" y="1636776"/>
            <a:ext cx="91440" cy="91440"/>
          </a:xfrm>
          <a:prstGeom prst="ellipse">
            <a:avLst/>
          </a:prstGeom>
          <a:solidFill>
            <a:srgbClr val="34D399"/>
          </a:solidFill>
          <a:ln/>
        </p:spPr>
      </p:sp>
      <p:pic>
        <p:nvPicPr>
          <p:cNvPr id="8" name="Image 0" descr="screenshot_resul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60908" y="1856232"/>
            <a:ext cx="4983480" cy="335584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69468" y="5440680"/>
            <a:ext cx="5166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8FA0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risk check — adjust transaction details and get a live probability with a plain-English explanation.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255868" y="1508760"/>
            <a:ext cx="5166360" cy="3794760"/>
          </a:xfrm>
          <a:prstGeom prst="roundRect">
            <a:avLst>
              <a:gd name="adj" fmla="val 1446"/>
            </a:avLst>
          </a:prstGeom>
          <a:solidFill>
            <a:srgbClr val="0E1728"/>
          </a:solidFill>
          <a:ln w="19050">
            <a:solidFill>
              <a:srgbClr val="1F2E48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438748" y="1636776"/>
            <a:ext cx="91440" cy="91440"/>
          </a:xfrm>
          <a:prstGeom prst="ellipse">
            <a:avLst/>
          </a:prstGeom>
          <a:solidFill>
            <a:srgbClr val="FF5D5D"/>
          </a:solidFill>
          <a:ln/>
        </p:spPr>
      </p:sp>
      <p:sp>
        <p:nvSpPr>
          <p:cNvPr id="12" name="Shape 9"/>
          <p:cNvSpPr/>
          <p:nvPr/>
        </p:nvSpPr>
        <p:spPr>
          <a:xfrm>
            <a:off x="6639916" y="1636776"/>
            <a:ext cx="91440" cy="91440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13" name="Shape 10"/>
          <p:cNvSpPr/>
          <p:nvPr/>
        </p:nvSpPr>
        <p:spPr>
          <a:xfrm>
            <a:off x="6841084" y="1636776"/>
            <a:ext cx="91440" cy="91440"/>
          </a:xfrm>
          <a:prstGeom prst="ellipse">
            <a:avLst/>
          </a:prstGeom>
          <a:solidFill>
            <a:srgbClr val="34D399"/>
          </a:solidFill>
          <a:ln/>
        </p:spPr>
      </p:sp>
      <p:pic>
        <p:nvPicPr>
          <p:cNvPr id="14" name="Image 1" descr="screenshot_fe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347308" y="1856232"/>
            <a:ext cx="4983480" cy="335584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6255868" y="5440680"/>
            <a:ext cx="5166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8FA0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transaction feed — every row scored automatically and sorted by risk, so the riskiest float to the top.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8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17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5A68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SENTRY — FRAUD DETECTION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4C8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HOOD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with a standard, extensible stack.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148840"/>
            <a:ext cx="2606040" cy="3566160"/>
          </a:xfrm>
          <a:prstGeom prst="roundRect">
            <a:avLst>
              <a:gd name="adj" fmla="val 2807"/>
            </a:avLst>
          </a:prstGeom>
          <a:solidFill>
            <a:srgbClr val="F7F9FC"/>
          </a:solidFill>
          <a:ln w="12700">
            <a:solidFill>
              <a:srgbClr val="E3E9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68780" y="2441448"/>
            <a:ext cx="548640" cy="548640"/>
          </a:xfrm>
          <a:prstGeom prst="ellipse">
            <a:avLst/>
          </a:prstGeom>
          <a:solidFill>
            <a:srgbClr val="EEF2FA"/>
          </a:solidFill>
          <a:ln w="12700">
            <a:solidFill>
              <a:srgbClr val="DCE4F2"/>
            </a:solidFill>
            <a:prstDash val="solid"/>
          </a:ln>
        </p:spPr>
      </p:sp>
      <p:pic>
        <p:nvPicPr>
          <p:cNvPr id="6" name="Image 0" descr="icons/databa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11426" y="2584094"/>
            <a:ext cx="263347" cy="26334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320040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2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&amp; Model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68680" y="370332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52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Python 3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868680" y="4087368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52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pandas / NumPy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868680" y="4471416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52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scikit-learn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868680" y="4855464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52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joblib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3474720" y="2148840"/>
            <a:ext cx="2606040" cy="3566160"/>
          </a:xfrm>
          <a:prstGeom prst="roundRect">
            <a:avLst>
              <a:gd name="adj" fmla="val 2807"/>
            </a:avLst>
          </a:prstGeom>
          <a:solidFill>
            <a:srgbClr val="F7F9FC"/>
          </a:solidFill>
          <a:ln w="12700">
            <a:solidFill>
              <a:srgbClr val="E3E9F2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503420" y="2441448"/>
            <a:ext cx="548640" cy="548640"/>
          </a:xfrm>
          <a:prstGeom prst="ellipse">
            <a:avLst/>
          </a:prstGeom>
          <a:solidFill>
            <a:srgbClr val="EEF2FA"/>
          </a:solidFill>
          <a:ln w="12700">
            <a:solidFill>
              <a:srgbClr val="DCE4F2"/>
            </a:solidFill>
            <a:prstDash val="solid"/>
          </a:ln>
        </p:spPr>
      </p:sp>
      <p:pic>
        <p:nvPicPr>
          <p:cNvPr id="14" name="Image 1" descr="icons/serv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6066" y="2584094"/>
            <a:ext cx="263347" cy="263347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611880" y="320040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2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Backend API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3703320" y="370332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52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Flask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3703320" y="4087368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52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REST endpoints</a:t>
            </a:r>
            <a:endParaRPr lang="en-US" sz="1100" dirty="0"/>
          </a:p>
        </p:txBody>
      </p:sp>
      <p:sp>
        <p:nvSpPr>
          <p:cNvPr id="18" name="Text 14"/>
          <p:cNvSpPr/>
          <p:nvPr/>
        </p:nvSpPr>
        <p:spPr>
          <a:xfrm>
            <a:off x="3703320" y="4471416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52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JSON over HTTP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6309360" y="2148840"/>
            <a:ext cx="2606040" cy="3566160"/>
          </a:xfrm>
          <a:prstGeom prst="roundRect">
            <a:avLst>
              <a:gd name="adj" fmla="val 2807"/>
            </a:avLst>
          </a:prstGeom>
          <a:solidFill>
            <a:srgbClr val="F7F9FC"/>
          </a:solidFill>
          <a:ln w="12700">
            <a:solidFill>
              <a:srgbClr val="E3E9F2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7338060" y="2441448"/>
            <a:ext cx="548640" cy="548640"/>
          </a:xfrm>
          <a:prstGeom prst="ellipse">
            <a:avLst/>
          </a:prstGeom>
          <a:solidFill>
            <a:srgbClr val="EEF2FA"/>
          </a:solidFill>
          <a:ln w="12700">
            <a:solidFill>
              <a:srgbClr val="DCE4F2"/>
            </a:solidFill>
            <a:prstDash val="solid"/>
          </a:ln>
        </p:spPr>
      </p:sp>
      <p:pic>
        <p:nvPicPr>
          <p:cNvPr id="21" name="Image 2" descr="icons/dashboar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80706" y="2584094"/>
            <a:ext cx="263347" cy="263347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6446520" y="320040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2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Frontend</a:t>
            </a:r>
            <a:endParaRPr lang="en-US" sz="1400" dirty="0"/>
          </a:p>
        </p:txBody>
      </p:sp>
      <p:sp>
        <p:nvSpPr>
          <p:cNvPr id="23" name="Text 18"/>
          <p:cNvSpPr/>
          <p:nvPr/>
        </p:nvSpPr>
        <p:spPr>
          <a:xfrm>
            <a:off x="6537960" y="370332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52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HTML5 / CSS3</a:t>
            </a:r>
            <a:endParaRPr lang="en-US" sz="1100" dirty="0"/>
          </a:p>
        </p:txBody>
      </p:sp>
      <p:sp>
        <p:nvSpPr>
          <p:cNvPr id="24" name="Text 19"/>
          <p:cNvSpPr/>
          <p:nvPr/>
        </p:nvSpPr>
        <p:spPr>
          <a:xfrm>
            <a:off x="6537960" y="4087368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52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Vanilla JavaScript</a:t>
            </a:r>
            <a:endParaRPr lang="en-US" sz="1100" dirty="0"/>
          </a:p>
        </p:txBody>
      </p:sp>
      <p:sp>
        <p:nvSpPr>
          <p:cNvPr id="25" name="Text 20"/>
          <p:cNvSpPr/>
          <p:nvPr/>
        </p:nvSpPr>
        <p:spPr>
          <a:xfrm>
            <a:off x="6537960" y="4471416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52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Canvas (live chart)</a:t>
            </a:r>
            <a:endParaRPr lang="en-US" sz="1100" dirty="0"/>
          </a:p>
        </p:txBody>
      </p:sp>
      <p:sp>
        <p:nvSpPr>
          <p:cNvPr id="26" name="Shape 21"/>
          <p:cNvSpPr/>
          <p:nvPr/>
        </p:nvSpPr>
        <p:spPr>
          <a:xfrm>
            <a:off x="9144000" y="2148840"/>
            <a:ext cx="2606040" cy="3566160"/>
          </a:xfrm>
          <a:prstGeom prst="roundRect">
            <a:avLst>
              <a:gd name="adj" fmla="val 2807"/>
            </a:avLst>
          </a:prstGeom>
          <a:solidFill>
            <a:srgbClr val="F7F9FC"/>
          </a:solidFill>
          <a:ln w="12700">
            <a:solidFill>
              <a:srgbClr val="E3E9F2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10172700" y="2441448"/>
            <a:ext cx="548640" cy="548640"/>
          </a:xfrm>
          <a:prstGeom prst="ellipse">
            <a:avLst/>
          </a:prstGeom>
          <a:solidFill>
            <a:srgbClr val="EEF2FA"/>
          </a:solidFill>
          <a:ln w="12700">
            <a:solidFill>
              <a:srgbClr val="DCE4F2"/>
            </a:solidFill>
            <a:prstDash val="solid"/>
          </a:ln>
        </p:spPr>
      </p:sp>
      <p:pic>
        <p:nvPicPr>
          <p:cNvPr id="28" name="Image 3" descr="icons/cod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15346" y="2584094"/>
            <a:ext cx="263347" cy="263347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9281160" y="320040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2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Tooling</a:t>
            </a:r>
            <a:endParaRPr lang="en-US" sz="1400" dirty="0"/>
          </a:p>
        </p:txBody>
      </p:sp>
      <p:sp>
        <p:nvSpPr>
          <p:cNvPr id="30" name="Text 24"/>
          <p:cNvSpPr/>
          <p:nvPr/>
        </p:nvSpPr>
        <p:spPr>
          <a:xfrm>
            <a:off x="9372600" y="370332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52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Git-friendly structure</a:t>
            </a:r>
            <a:endParaRPr lang="en-US" sz="1100" dirty="0"/>
          </a:p>
        </p:txBody>
      </p:sp>
      <p:sp>
        <p:nvSpPr>
          <p:cNvPr id="31" name="Text 25"/>
          <p:cNvSpPr/>
          <p:nvPr/>
        </p:nvSpPr>
        <p:spPr>
          <a:xfrm>
            <a:off x="9372600" y="4087368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52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requirements.txt</a:t>
            </a:r>
            <a:endParaRPr lang="en-US" sz="1100" dirty="0"/>
          </a:p>
        </p:txBody>
      </p:sp>
      <p:sp>
        <p:nvSpPr>
          <p:cNvPr id="32" name="Text 26"/>
          <p:cNvSpPr/>
          <p:nvPr/>
        </p:nvSpPr>
        <p:spPr>
          <a:xfrm>
            <a:off x="9372600" y="4471416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52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Modular scripts</a:t>
            </a:r>
            <a:endParaRPr lang="en-US" sz="1100" dirty="0"/>
          </a:p>
        </p:txBody>
      </p:sp>
      <p:sp>
        <p:nvSpPr>
          <p:cNvPr id="33" name="Text 27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8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34" name="Text 28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5A68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SENTRY — FRAUD DETECTION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4C8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this could go next.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194560"/>
            <a:ext cx="502920" cy="502920"/>
          </a:xfrm>
          <a:prstGeom prst="roundRect">
            <a:avLst>
              <a:gd name="adj" fmla="val 16364"/>
            </a:avLst>
          </a:prstGeom>
          <a:solidFill>
            <a:srgbClr val="111C30"/>
          </a:solidFill>
          <a:ln w="12700">
            <a:solidFill>
              <a:srgbClr val="1F2E4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2194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C8D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325880" y="2157984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Real-world data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0" y="2157984"/>
            <a:ext cx="603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8FA0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 the synthetic dataset for an anonymized real one (e.g. Kaggle's Credit Card Fraud dataset) for realistic performance.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40080" y="3127248"/>
            <a:ext cx="502920" cy="502920"/>
          </a:xfrm>
          <a:prstGeom prst="roundRect">
            <a:avLst>
              <a:gd name="adj" fmla="val 16364"/>
            </a:avLst>
          </a:prstGeom>
          <a:solidFill>
            <a:srgbClr val="111C30"/>
          </a:solidFill>
          <a:ln w="12700">
            <a:solidFill>
              <a:srgbClr val="1F2E4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31272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C8D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325880" y="3090672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Unsupervised anomaly detection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486400" y="3090672"/>
            <a:ext cx="603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8FA0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an Isolation Forest or autoencoder to catch fraud patterns that have never been labeled before.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40080" y="4059936"/>
            <a:ext cx="502920" cy="502920"/>
          </a:xfrm>
          <a:prstGeom prst="roundRect">
            <a:avLst>
              <a:gd name="adj" fmla="val 16364"/>
            </a:avLst>
          </a:prstGeom>
          <a:solidFill>
            <a:srgbClr val="111C30"/>
          </a:solidFill>
          <a:ln w="12700">
            <a:solidFill>
              <a:srgbClr val="1F2E4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405993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C8D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325880" y="402336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Explainability (SHAP)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486400" y="4023360"/>
            <a:ext cx="603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8FA0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from rule-based reasons to per-transaction SHAP values for precise, auditable explanations.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40080" y="4992624"/>
            <a:ext cx="502920" cy="502920"/>
          </a:xfrm>
          <a:prstGeom prst="roundRect">
            <a:avLst>
              <a:gd name="adj" fmla="val 16364"/>
            </a:avLst>
          </a:prstGeom>
          <a:solidFill>
            <a:srgbClr val="111C30"/>
          </a:solidFill>
          <a:ln w="12700">
            <a:solidFill>
              <a:srgbClr val="1F2E4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499262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C8D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325880" y="4956048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Production deployment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486400" y="4956048"/>
            <a:ext cx="603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8FA0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authentication, a real database, and deploy the API so the dashboard works from anywhere.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8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5A68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SENTRY — FRAUD DETECTION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0" y="-2286000"/>
            <a:ext cx="7315200" cy="7315200"/>
          </a:xfrm>
          <a:prstGeom prst="ellipse">
            <a:avLst/>
          </a:prstGeom>
          <a:ln w="19050">
            <a:solidFill>
              <a:srgbClr val="1623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775808" y="1965960"/>
            <a:ext cx="640080" cy="640080"/>
          </a:xfrm>
          <a:prstGeom prst="ellipse">
            <a:avLst/>
          </a:prstGeom>
          <a:solidFill>
            <a:srgbClr val="12203C"/>
          </a:solidFill>
          <a:ln w="12700">
            <a:solidFill>
              <a:srgbClr val="2A4A8C"/>
            </a:solidFill>
            <a:prstDash val="solid"/>
          </a:ln>
        </p:spPr>
      </p:sp>
      <p:pic>
        <p:nvPicPr>
          <p:cNvPr id="4" name="Image 0" descr="icons/shie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2228" y="2132381"/>
            <a:ext cx="307238" cy="30723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0" y="2788920"/>
            <a:ext cx="121916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0" y="3520440"/>
            <a:ext cx="12191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FA0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Sentry — AI-Powered Financial Fraud Detection System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0" y="4114800"/>
            <a:ext cx="12191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5A68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2026-07-17T21:25:37Z</dcterms:created>
  <dcterms:modified xsi:type="dcterms:W3CDTF">2026-07-17T21:25:37Z</dcterms:modified>
</cp:coreProperties>
</file>